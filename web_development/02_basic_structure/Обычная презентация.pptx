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Economica"/>
      <p:regular r:id="rId17"/>
      <p:bold r:id="rId18"/>
      <p:italic r:id="rId19"/>
      <p:boldItalic r:id="rId20"/>
    </p:embeddedFont>
    <p:embeddedFont>
      <p:font typeface="Roboto Mono"/>
      <p:regular r:id="rId21"/>
      <p:bold r:id="rId22"/>
      <p:italic r:id="rId23"/>
      <p:boldItalic r:id="rId24"/>
    </p:embeddedFont>
    <p:embeddedFont>
      <p:font typeface="Open Sans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Economica-boldItalic.fntdata"/><Relationship Id="rId22" Type="http://schemas.openxmlformats.org/officeDocument/2006/relationships/font" Target="fonts/RobotoMono-bold.fntdata"/><Relationship Id="rId21" Type="http://schemas.openxmlformats.org/officeDocument/2006/relationships/font" Target="fonts/RobotoMono-regular.fntdata"/><Relationship Id="rId24" Type="http://schemas.openxmlformats.org/officeDocument/2006/relationships/font" Target="fonts/RobotoMono-boldItalic.fntdata"/><Relationship Id="rId23" Type="http://schemas.openxmlformats.org/officeDocument/2006/relationships/font" Target="fonts/RobotoMon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penSans-bold.fntdata"/><Relationship Id="rId25" Type="http://schemas.openxmlformats.org/officeDocument/2006/relationships/font" Target="fonts/OpenSans-regular.fntdata"/><Relationship Id="rId28" Type="http://schemas.openxmlformats.org/officeDocument/2006/relationships/font" Target="fonts/OpenSans-boldItalic.fntdata"/><Relationship Id="rId27" Type="http://schemas.openxmlformats.org/officeDocument/2006/relationships/font" Target="fonts/Open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Economica-regular.fntdata"/><Relationship Id="rId16" Type="http://schemas.openxmlformats.org/officeDocument/2006/relationships/slide" Target="slides/slide11.xml"/><Relationship Id="rId19" Type="http://schemas.openxmlformats.org/officeDocument/2006/relationships/font" Target="fonts/Economica-italic.fntdata"/><Relationship Id="rId18" Type="http://schemas.openxmlformats.org/officeDocument/2006/relationships/font" Target="fonts/Economica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c6f73a04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c6f73a04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c6f73a04f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c6f73a04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"Всем привет! Сегодня разберем скелет любой страницы. Никакой воды, только теги, их назначение и примеры. Погнали!"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c6f73a04f_0_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c6f73a04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c6f73a04f_0_1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c6f73a04f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c6f73a04f_0_2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c6f73a04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caf5527889_4_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caf5527889_4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caf5527889_7_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caf5527889_7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af5527889_7_2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caf5527889_7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c6f73a04f_0_4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c6f73a04f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af5527889_7_4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caf5527889_7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c6f73a04f_0_4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c6f73a04f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3780">
                <a:latin typeface="Arial"/>
                <a:ea typeface="Arial"/>
                <a:cs typeface="Arial"/>
                <a:sym typeface="Arial"/>
              </a:rPr>
              <a:t>Урок: "HTML для самых маленьких"</a:t>
            </a:r>
            <a:endParaRPr sz="2880"/>
          </a:p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ru" sz="2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Разбираем основные теги на пальцах</a:t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773700" y="10411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«Основы HTML: Создаем свою первую веб-страницу»</a:t>
            </a:r>
            <a:endParaRPr/>
          </a:p>
        </p:txBody>
      </p:sp>
      <p:sp>
        <p:nvSpPr>
          <p:cNvPr id="69" name="Google Shape;69;p14"/>
          <p:cNvSpPr txBox="1"/>
          <p:nvPr/>
        </p:nvSpPr>
        <p:spPr>
          <a:xfrm>
            <a:off x="2459575" y="3675750"/>
            <a:ext cx="376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«Практическое занятие для новичков»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Введение</a:t>
            </a:r>
            <a:endParaRPr/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ru" sz="5515">
                <a:latin typeface="Arial"/>
                <a:ea typeface="Arial"/>
                <a:cs typeface="Arial"/>
                <a:sym typeface="Arial"/>
              </a:rPr>
              <a:t>Привет! Я Юрий Викторович</a:t>
            </a:r>
            <a:r>
              <a:rPr lang="ru" sz="5515">
                <a:latin typeface="Arial"/>
                <a:ea typeface="Arial"/>
                <a:cs typeface="Arial"/>
                <a:sym typeface="Arial"/>
              </a:rPr>
              <a:t> 👋</a:t>
            </a:r>
            <a:br>
              <a:rPr lang="ru" sz="5515">
                <a:latin typeface="Arial"/>
                <a:ea typeface="Arial"/>
                <a:cs typeface="Arial"/>
                <a:sym typeface="Arial"/>
              </a:rPr>
            </a:br>
            <a:r>
              <a:rPr lang="ru" sz="5515">
                <a:latin typeface="Arial"/>
                <a:ea typeface="Arial"/>
                <a:cs typeface="Arial"/>
                <a:sym typeface="Arial"/>
              </a:rPr>
              <a:t>Ваш помощник в мире веб-разработки</a:t>
            </a:r>
            <a:endParaRPr sz="5515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5515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ru" sz="5515">
                <a:latin typeface="Arial"/>
                <a:ea typeface="Arial"/>
                <a:cs typeface="Arial"/>
                <a:sym typeface="Arial"/>
              </a:rPr>
              <a:t>О чём сегодня:</a:t>
            </a:r>
            <a:endParaRPr b="1" sz="5515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ru" sz="5515">
                <a:latin typeface="Arial"/>
                <a:ea typeface="Arial"/>
                <a:cs typeface="Arial"/>
                <a:sym typeface="Arial"/>
              </a:rPr>
              <a:t>📌 </a:t>
            </a:r>
            <a:r>
              <a:rPr b="1" lang="ru" sz="5515">
                <a:latin typeface="Arial"/>
                <a:ea typeface="Arial"/>
                <a:cs typeface="Arial"/>
                <a:sym typeface="Arial"/>
              </a:rPr>
              <a:t>Изучаем основы HTML</a:t>
            </a:r>
            <a:r>
              <a:rPr lang="ru" sz="5515">
                <a:latin typeface="Arial"/>
                <a:ea typeface="Arial"/>
                <a:cs typeface="Arial"/>
                <a:sym typeface="Arial"/>
              </a:rPr>
              <a:t> — язык, на котором построены все сайты</a:t>
            </a:r>
            <a:endParaRPr sz="5515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ru" sz="5515">
                <a:latin typeface="Arial"/>
                <a:ea typeface="Arial"/>
                <a:cs typeface="Arial"/>
                <a:sym typeface="Arial"/>
              </a:rPr>
              <a:t>📌 </a:t>
            </a:r>
            <a:r>
              <a:rPr b="1" lang="ru" sz="5515">
                <a:latin typeface="Arial"/>
                <a:ea typeface="Arial"/>
                <a:cs typeface="Arial"/>
                <a:sym typeface="Arial"/>
              </a:rPr>
              <a:t>Для кого:</a:t>
            </a:r>
            <a:r>
              <a:rPr lang="ru" sz="5515">
                <a:latin typeface="Arial"/>
                <a:ea typeface="Arial"/>
                <a:cs typeface="Arial"/>
                <a:sym typeface="Arial"/>
              </a:rPr>
              <a:t> Полные новички, которые хотят сделать первый шаг в IT</a:t>
            </a:r>
            <a:endParaRPr sz="5515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ru" sz="5515">
                <a:latin typeface="Arial"/>
                <a:ea typeface="Arial"/>
                <a:cs typeface="Arial"/>
                <a:sym typeface="Arial"/>
              </a:rPr>
              <a:t>📌 </a:t>
            </a:r>
            <a:r>
              <a:rPr b="1" lang="ru" sz="5515">
                <a:latin typeface="Arial"/>
                <a:ea typeface="Arial"/>
                <a:cs typeface="Arial"/>
                <a:sym typeface="Arial"/>
              </a:rPr>
              <a:t>Формат:</a:t>
            </a:r>
            <a:r>
              <a:rPr lang="ru" sz="5515">
                <a:latin typeface="Arial"/>
                <a:ea typeface="Arial"/>
                <a:cs typeface="Arial"/>
                <a:sym typeface="Arial"/>
              </a:rPr>
              <a:t> Живые примеры, минимум теории, максимум практики</a:t>
            </a:r>
            <a:endParaRPr sz="5515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ru" sz="5515">
                <a:latin typeface="Arial"/>
                <a:ea typeface="Arial"/>
                <a:cs typeface="Arial"/>
                <a:sym typeface="Arial"/>
              </a:rPr>
              <a:t>📌 </a:t>
            </a:r>
            <a:r>
              <a:rPr b="1" lang="ru" sz="5515">
                <a:latin typeface="Arial"/>
                <a:ea typeface="Arial"/>
                <a:cs typeface="Arial"/>
                <a:sym typeface="Arial"/>
              </a:rPr>
              <a:t>Результат:</a:t>
            </a:r>
            <a:r>
              <a:rPr lang="ru" sz="5515">
                <a:latin typeface="Arial"/>
                <a:ea typeface="Arial"/>
                <a:cs typeface="Arial"/>
                <a:sym typeface="Arial"/>
              </a:rPr>
              <a:t> Вы напишете свою первую веб-страницу и поймёте, как работает код</a:t>
            </a:r>
            <a:endParaRPr sz="5515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5515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i="1" lang="ru" sz="5515">
                <a:latin typeface="Arial"/>
                <a:ea typeface="Arial"/>
                <a:cs typeface="Arial"/>
                <a:sym typeface="Arial"/>
              </a:rPr>
              <a:t>Погнали!</a:t>
            </a:r>
            <a:r>
              <a:rPr lang="ru" sz="5515">
                <a:latin typeface="Arial"/>
                <a:ea typeface="Arial"/>
                <a:cs typeface="Arial"/>
                <a:sym typeface="Arial"/>
              </a:rPr>
              <a:t> 🚀</a:t>
            </a:r>
            <a:endParaRPr sz="5515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3400">
                <a:latin typeface="Arial"/>
                <a:ea typeface="Arial"/>
                <a:cs typeface="Arial"/>
                <a:sym typeface="Arial"/>
              </a:rPr>
              <a:t>Скелет страницы (Базовая структура)</a:t>
            </a:r>
            <a:endParaRPr sz="6300"/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11700" y="1225225"/>
            <a:ext cx="2951100" cy="36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ru" sz="8807"/>
              <a:t>Каркас дома</a:t>
            </a:r>
            <a:endParaRPr b="1" sz="8807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4407"/>
              <a:t>&lt;!DOCTYPE html&gt;</a:t>
            </a:r>
            <a:endParaRPr b="1" sz="4407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ru" sz="4407"/>
              <a:t>&lt;html&gt;</a:t>
            </a:r>
            <a:endParaRPr b="1" sz="4407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ru" sz="4407"/>
              <a:t>  &lt;head&gt;</a:t>
            </a:r>
            <a:endParaRPr b="1" sz="4407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ru" sz="4407"/>
              <a:t>    &lt;meta charset="UTF-8"&gt;</a:t>
            </a:r>
            <a:endParaRPr b="1" sz="4407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ru" sz="4407"/>
              <a:t>    &lt;title&gt;Заголовок вкладки&lt;/title&gt;</a:t>
            </a:r>
            <a:endParaRPr b="1" sz="4407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ru" sz="4407"/>
              <a:t>  &lt;/head&gt;</a:t>
            </a:r>
            <a:endParaRPr b="1" sz="4407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ru" sz="4407"/>
              <a:t>  &lt;body&gt;</a:t>
            </a:r>
            <a:endParaRPr b="1" sz="4407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ru" sz="4407"/>
              <a:t>    &lt;!-- Тут будет вся жизнь --&gt;</a:t>
            </a:r>
            <a:endParaRPr b="1" sz="4407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ru" sz="4407"/>
              <a:t>  &lt;/body&gt;</a:t>
            </a:r>
            <a:endParaRPr b="1" sz="4407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ru" sz="4407"/>
              <a:t>&lt;/html&gt;</a:t>
            </a:r>
            <a:endParaRPr b="1" sz="6869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t/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6"/>
          <p:cNvSpPr txBox="1"/>
          <p:nvPr>
            <p:ph idx="2" type="body"/>
          </p:nvPr>
        </p:nvSpPr>
        <p:spPr>
          <a:xfrm>
            <a:off x="3418600" y="1225225"/>
            <a:ext cx="5593800" cy="38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2200">
                <a:latin typeface="Arial"/>
                <a:ea typeface="Arial"/>
                <a:cs typeface="Arial"/>
                <a:sym typeface="Arial"/>
              </a:rPr>
              <a:t>Пояснения:</a:t>
            </a:r>
            <a:endParaRPr b="1" sz="22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ru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&lt;!DOCTYPE html&gt;</a:t>
            </a:r>
            <a:r>
              <a:rPr lang="ru" sz="1700">
                <a:latin typeface="Arial"/>
                <a:ea typeface="Arial"/>
                <a:cs typeface="Arial"/>
                <a:sym typeface="Arial"/>
              </a:rPr>
              <a:t> — Объявляем, что работаем по стандартам HTML5.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ru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&lt;html&gt;</a:t>
            </a:r>
            <a:r>
              <a:rPr lang="ru" sz="1700">
                <a:latin typeface="Arial"/>
                <a:ea typeface="Arial"/>
                <a:cs typeface="Arial"/>
                <a:sym typeface="Arial"/>
              </a:rPr>
              <a:t> — Корень, фундамент всего документа.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ru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&lt;head&gt;</a:t>
            </a:r>
            <a:r>
              <a:rPr lang="ru" sz="1700">
                <a:latin typeface="Arial"/>
                <a:ea typeface="Arial"/>
                <a:cs typeface="Arial"/>
                <a:sym typeface="Arial"/>
              </a:rPr>
              <a:t> — Мозги страницы (настройки, название, стили). Сами не видны.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ru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&lt;title&gt;</a:t>
            </a:r>
            <a:r>
              <a:rPr lang="ru" sz="1700">
                <a:latin typeface="Arial"/>
                <a:ea typeface="Arial"/>
                <a:cs typeface="Arial"/>
                <a:sym typeface="Arial"/>
              </a:rPr>
              <a:t> — То, что видно на вкладке браузера.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ru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&lt;body&gt;</a:t>
            </a:r>
            <a:r>
              <a:rPr lang="ru" sz="1700">
                <a:latin typeface="Arial"/>
                <a:ea typeface="Arial"/>
                <a:cs typeface="Arial"/>
                <a:sym typeface="Arial"/>
              </a:rPr>
              <a:t> — Тело. Всё, что мы видим на экране.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555600"/>
            <a:ext cx="48735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300">
                <a:latin typeface="Arial"/>
                <a:ea typeface="Arial"/>
                <a:cs typeface="Arial"/>
                <a:sym typeface="Arial"/>
              </a:rPr>
              <a:t>Кирпичики текста</a:t>
            </a:r>
            <a:endParaRPr sz="5200"/>
          </a:p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311700" y="1399400"/>
            <a:ext cx="8475600" cy="32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7402">
                <a:latin typeface="Arial"/>
                <a:ea typeface="Arial"/>
                <a:cs typeface="Arial"/>
                <a:sym typeface="Arial"/>
              </a:rPr>
              <a:t>&lt;h1&gt;Самый главный заголовок&lt;/h1&gt;</a:t>
            </a:r>
            <a:endParaRPr sz="7402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7402">
                <a:latin typeface="Arial"/>
                <a:ea typeface="Arial"/>
                <a:cs typeface="Arial"/>
                <a:sym typeface="Arial"/>
              </a:rPr>
              <a:t>&lt;h2&gt;Заголовок поменьше&lt;/h2&gt;</a:t>
            </a:r>
            <a:endParaRPr sz="7402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7402">
                <a:latin typeface="Arial"/>
                <a:ea typeface="Arial"/>
                <a:cs typeface="Arial"/>
                <a:sym typeface="Arial"/>
              </a:rPr>
              <a:t>&lt;p&gt;Это обычный абзац текста. Много-много букав.&lt;/p&gt;</a:t>
            </a:r>
            <a:endParaRPr sz="7402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7402">
                <a:latin typeface="Arial"/>
                <a:ea typeface="Arial"/>
                <a:cs typeface="Arial"/>
                <a:sym typeface="Arial"/>
              </a:rPr>
              <a:t>&lt;p&gt;Это &lt;strong&gt;важный&lt;/strong&gt; и &lt;em&gt;акцентированный&lt;/em&gt; текст.&lt;/p&gt;</a:t>
            </a:r>
            <a:endParaRPr sz="7402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7402">
                <a:latin typeface="Arial"/>
                <a:ea typeface="Arial"/>
                <a:cs typeface="Arial"/>
                <a:sym typeface="Arial"/>
              </a:rPr>
              <a:t>&lt;br&gt; &lt;!-- Перенос строки --&gt;</a:t>
            </a:r>
            <a:endParaRPr sz="7402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ru" sz="7402">
                <a:latin typeface="Arial"/>
                <a:ea typeface="Arial"/>
                <a:cs typeface="Arial"/>
                <a:sym typeface="Arial"/>
              </a:rPr>
              <a:t>&lt;hr&gt; &lt;!-- Линия-разделитель --&gt;</a:t>
            </a:r>
            <a:endParaRPr sz="7402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3400">
                <a:latin typeface="Arial"/>
                <a:ea typeface="Arial"/>
                <a:cs typeface="Arial"/>
                <a:sym typeface="Arial"/>
              </a:rPr>
              <a:t>Списки: Порядок и перечисление</a:t>
            </a:r>
            <a:endParaRPr b="1" sz="3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311700" y="1070275"/>
            <a:ext cx="3141600" cy="39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ru" sz="10300">
                <a:latin typeface="Arial"/>
                <a:ea typeface="Arial"/>
                <a:cs typeface="Arial"/>
                <a:sym typeface="Arial"/>
              </a:rPr>
              <a:t>Маркированный        </a:t>
            </a:r>
            <a:endParaRPr b="1" sz="10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ru" sz="7207"/>
              <a:t>&lt;ul&gt;</a:t>
            </a:r>
            <a:endParaRPr b="1" sz="7207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ru" sz="7207"/>
              <a:t>  &lt;li&gt;Яблоки&lt;/li&gt;</a:t>
            </a:r>
            <a:endParaRPr b="1" sz="7207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ru" sz="7207"/>
              <a:t>  &lt;li&gt;Бананы&lt;/li&gt;</a:t>
            </a:r>
            <a:endParaRPr b="1" sz="7207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ru" sz="7207"/>
              <a:t>  &lt;li&gt;Молоко&lt;/li&gt;</a:t>
            </a:r>
            <a:endParaRPr b="1" sz="7207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ru" sz="7207"/>
              <a:t>&lt;/ul&gt;   </a:t>
            </a:r>
            <a:endParaRPr b="1" sz="7207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i="1" lang="ru" sz="5900">
                <a:latin typeface="Arial"/>
                <a:ea typeface="Arial"/>
                <a:cs typeface="Arial"/>
                <a:sym typeface="Arial"/>
              </a:rPr>
              <a:t>Результат:</a:t>
            </a:r>
            <a:r>
              <a:rPr lang="ru" sz="5900">
                <a:latin typeface="Arial"/>
                <a:ea typeface="Arial"/>
                <a:cs typeface="Arial"/>
                <a:sym typeface="Arial"/>
              </a:rPr>
              <a:t> Точки/маркеры.</a:t>
            </a:r>
            <a:endParaRPr b="1" sz="8407"/>
          </a:p>
          <a:p>
            <a:pPr indent="-304922" lvl="0" marL="457200" rtl="0" algn="l"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b="1" lang="ru" sz="4807"/>
              <a:t>Яблоки</a:t>
            </a:r>
            <a:endParaRPr b="1" sz="4807"/>
          </a:p>
          <a:p>
            <a:pPr indent="-304922" lvl="0" marL="457200" rtl="0" algn="l">
              <a:spcBef>
                <a:spcPts val="0"/>
              </a:spcBef>
              <a:spcAft>
                <a:spcPts val="0"/>
              </a:spcAft>
              <a:buSzPct val="92319"/>
              <a:buFont typeface="Arial"/>
              <a:buChar char="●"/>
            </a:pPr>
            <a:r>
              <a:rPr b="1" lang="ru" sz="5207"/>
              <a:t>Бананы</a:t>
            </a:r>
            <a:endParaRPr b="1" sz="5207"/>
          </a:p>
          <a:p>
            <a:pPr indent="-304922" lvl="0" marL="457200" rtl="0" algn="l">
              <a:spcBef>
                <a:spcPts val="0"/>
              </a:spcBef>
              <a:spcAft>
                <a:spcPts val="0"/>
              </a:spcAft>
              <a:buSzPct val="92319"/>
              <a:buFont typeface="Arial"/>
              <a:buChar char="●"/>
            </a:pPr>
            <a:r>
              <a:rPr b="1" lang="ru" sz="5207"/>
              <a:t>Молоко</a:t>
            </a:r>
            <a:endParaRPr b="1" sz="4807"/>
          </a:p>
        </p:txBody>
      </p:sp>
      <p:sp>
        <p:nvSpPr>
          <p:cNvPr id="95" name="Google Shape;95;p18"/>
          <p:cNvSpPr txBox="1"/>
          <p:nvPr>
            <p:ph idx="2" type="body"/>
          </p:nvPr>
        </p:nvSpPr>
        <p:spPr>
          <a:xfrm>
            <a:off x="4457700" y="1070275"/>
            <a:ext cx="4139100" cy="39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2600">
                <a:latin typeface="Arial"/>
                <a:ea typeface="Arial"/>
                <a:cs typeface="Arial"/>
                <a:sym typeface="Arial"/>
              </a:rPr>
              <a:t>Нумерованный           </a:t>
            </a:r>
            <a:r>
              <a:rPr b="1" lang="ru" sz="1800"/>
              <a:t>&lt;ol&gt;</a:t>
            </a:r>
            <a:endParaRPr b="1"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800"/>
              <a:t>  &lt;li&gt;Встать&lt;/li&gt;</a:t>
            </a:r>
            <a:endParaRPr b="1"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800"/>
              <a:t>  &lt;li&gt;Умыться&lt;/li&gt;</a:t>
            </a:r>
            <a:endParaRPr b="1"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800"/>
              <a:t>  &lt;li&gt;Кодить&lt;/li&gt;</a:t>
            </a:r>
            <a:endParaRPr b="1"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800"/>
              <a:t>&lt;/ol&gt;</a:t>
            </a:r>
            <a:r>
              <a:rPr b="1" lang="ru" sz="1700"/>
              <a:t>  </a:t>
            </a:r>
            <a:endParaRPr b="1"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ru" sz="1300">
                <a:latin typeface="Arial"/>
                <a:ea typeface="Arial"/>
                <a:cs typeface="Arial"/>
                <a:sym typeface="Arial"/>
              </a:rPr>
              <a:t>Результат:</a:t>
            </a:r>
            <a:r>
              <a:rPr lang="ru" sz="1300">
                <a:latin typeface="Arial"/>
                <a:ea typeface="Arial"/>
                <a:cs typeface="Arial"/>
                <a:sym typeface="Arial"/>
              </a:rPr>
              <a:t> Цифры 1, 2, 3.</a:t>
            </a:r>
            <a:endParaRPr b="1" sz="1200"/>
          </a:p>
          <a:p>
            <a:pPr indent="-292100" lvl="0" marL="457200" rtl="0" algn="l">
              <a:spcBef>
                <a:spcPts val="1200"/>
              </a:spcBef>
              <a:spcAft>
                <a:spcPts val="0"/>
              </a:spcAft>
              <a:buSzPts val="1000"/>
              <a:buFont typeface="Arial"/>
              <a:buAutoNum type="arabicPeriod"/>
            </a:pPr>
            <a:r>
              <a:rPr b="1" lang="ru" sz="1200"/>
              <a:t>Встать</a:t>
            </a:r>
            <a:endParaRPr b="1" sz="12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Arial"/>
              <a:buAutoNum type="arabicPeriod"/>
            </a:pPr>
            <a:r>
              <a:rPr b="1" lang="ru" sz="1200"/>
              <a:t>Умыться</a:t>
            </a:r>
            <a:endParaRPr b="1" sz="12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Arial"/>
              <a:buAutoNum type="arabicPeriod"/>
            </a:pPr>
            <a:r>
              <a:rPr b="1" lang="ru" sz="1200"/>
              <a:t>Кодить</a:t>
            </a:r>
            <a:endParaRPr b="1"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3400">
                <a:latin typeface="Arial"/>
                <a:ea typeface="Arial"/>
                <a:cs typeface="Arial"/>
                <a:sym typeface="Arial"/>
              </a:rPr>
              <a:t>Картинки и ссылки (Связь с миром)</a:t>
            </a:r>
            <a:endParaRPr b="1" sz="3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311700" y="1070275"/>
            <a:ext cx="4139100" cy="39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3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b="1" lang="ru" sz="10300">
                <a:latin typeface="Arial"/>
                <a:ea typeface="Arial"/>
                <a:cs typeface="Arial"/>
                <a:sym typeface="Arial"/>
              </a:rPr>
              <a:t>Кликай и смотри</a:t>
            </a:r>
            <a:r>
              <a:rPr b="1" lang="ru" sz="10300">
                <a:latin typeface="Arial"/>
                <a:ea typeface="Arial"/>
                <a:cs typeface="Arial"/>
                <a:sym typeface="Arial"/>
              </a:rPr>
              <a:t>        </a:t>
            </a:r>
            <a:endParaRPr b="1" sz="10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b="1" lang="ru" sz="6592"/>
              <a:t>&lt;a href="https://yandex.ru"&gt;</a:t>
            </a:r>
            <a:endParaRPr b="1" sz="6592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b="1" lang="ru" sz="6592"/>
              <a:t>  Перейти на Яндекс</a:t>
            </a:r>
            <a:endParaRPr b="1" sz="6592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b="1" lang="ru" sz="6592"/>
              <a:t>&lt;/a&gt;</a:t>
            </a:r>
            <a:r>
              <a:rPr b="1" lang="ru" sz="6592"/>
              <a:t>   </a:t>
            </a:r>
            <a:endParaRPr b="1" sz="6592"/>
          </a:p>
          <a:p>
            <a:pPr indent="-383381" lvl="0" marL="457200" rtl="0" algn="l"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b="1" lang="ru" sz="7500">
                <a:latin typeface="Arial"/>
                <a:ea typeface="Arial"/>
                <a:cs typeface="Arial"/>
                <a:sym typeface="Arial"/>
              </a:rPr>
              <a:t>Фишка:</a:t>
            </a:r>
            <a:r>
              <a:rPr lang="ru" sz="7500">
                <a:latin typeface="Arial"/>
                <a:ea typeface="Arial"/>
                <a:cs typeface="Arial"/>
                <a:sym typeface="Arial"/>
              </a:rPr>
              <a:t> Текст подчеркнут, меняет цвет при клике.</a:t>
            </a:r>
            <a:endParaRPr b="1" sz="4807"/>
          </a:p>
        </p:txBody>
      </p:sp>
      <p:sp>
        <p:nvSpPr>
          <p:cNvPr id="102" name="Google Shape;102;p19"/>
          <p:cNvSpPr txBox="1"/>
          <p:nvPr>
            <p:ph idx="2" type="body"/>
          </p:nvPr>
        </p:nvSpPr>
        <p:spPr>
          <a:xfrm>
            <a:off x="4457700" y="1070275"/>
            <a:ext cx="4520100" cy="39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3300">
                <a:latin typeface="Arial"/>
                <a:ea typeface="Arial"/>
                <a:cs typeface="Arial"/>
                <a:sym typeface="Arial"/>
              </a:rPr>
              <a:t>Картинка      </a:t>
            </a:r>
            <a:r>
              <a:rPr b="1" lang="ru" sz="28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ru" sz="2600">
                <a:latin typeface="Arial"/>
                <a:ea typeface="Arial"/>
                <a:cs typeface="Arial"/>
                <a:sym typeface="Arial"/>
              </a:rPr>
              <a:t>          </a:t>
            </a:r>
            <a:r>
              <a:rPr b="1" lang="ru" sz="2500"/>
              <a:t>&lt;img src="kotik.jpg" alt="Пушистый котик"&gt;</a:t>
            </a:r>
            <a:r>
              <a:rPr b="1" lang="ru" sz="2500"/>
              <a:t> </a:t>
            </a:r>
            <a:endParaRPr b="1" sz="2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  <a:p>
            <a:pPr indent="-361950" lvl="0" marL="457200" rtl="0" algn="l">
              <a:spcBef>
                <a:spcPts val="1200"/>
              </a:spcBef>
              <a:spcAft>
                <a:spcPts val="0"/>
              </a:spcAft>
              <a:buSzPts val="2100"/>
              <a:buFont typeface="Arial"/>
              <a:buChar char="●"/>
            </a:pPr>
            <a:r>
              <a:rPr b="1" lang="ru" sz="2100">
                <a:latin typeface="Arial"/>
                <a:ea typeface="Arial"/>
                <a:cs typeface="Arial"/>
                <a:sym typeface="Arial"/>
              </a:rPr>
              <a:t>Важно!</a:t>
            </a:r>
            <a:r>
              <a:rPr lang="ru" sz="21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" sz="2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src</a:t>
            </a:r>
            <a:r>
              <a:rPr lang="ru" sz="2100">
                <a:latin typeface="Arial"/>
                <a:ea typeface="Arial"/>
                <a:cs typeface="Arial"/>
                <a:sym typeface="Arial"/>
              </a:rPr>
              <a:t> — путь к файлу, </a:t>
            </a:r>
            <a:r>
              <a:rPr lang="ru" sz="2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alt</a:t>
            </a:r>
            <a:r>
              <a:rPr lang="ru" sz="2100">
                <a:latin typeface="Arial"/>
                <a:ea typeface="Arial"/>
                <a:cs typeface="Arial"/>
                <a:sym typeface="Arial"/>
              </a:rPr>
              <a:t> — описание (если картинка не загрузилась, для слепых).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type="title"/>
          </p:nvPr>
        </p:nvSpPr>
        <p:spPr>
          <a:xfrm>
            <a:off x="311700" y="555600"/>
            <a:ext cx="67611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300">
                <a:latin typeface="Arial"/>
                <a:ea typeface="Arial"/>
                <a:cs typeface="Arial"/>
                <a:sym typeface="Arial"/>
              </a:rPr>
              <a:t>Структура HTML5 (Семантика)</a:t>
            </a:r>
            <a:endParaRPr sz="5200"/>
          </a:p>
        </p:txBody>
      </p:sp>
      <p:sp>
        <p:nvSpPr>
          <p:cNvPr id="108" name="Google Shape;108;p20"/>
          <p:cNvSpPr txBox="1"/>
          <p:nvPr>
            <p:ph idx="1" type="body"/>
          </p:nvPr>
        </p:nvSpPr>
        <p:spPr>
          <a:xfrm>
            <a:off x="311700" y="1399400"/>
            <a:ext cx="8475600" cy="32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900">
                <a:latin typeface="Arial"/>
                <a:ea typeface="Arial"/>
                <a:cs typeface="Arial"/>
                <a:sym typeface="Arial"/>
              </a:rPr>
              <a:t>Сайт как книга</a:t>
            </a:r>
            <a:br>
              <a:rPr lang="ru" sz="1900">
                <a:latin typeface="Arial"/>
                <a:ea typeface="Arial"/>
                <a:cs typeface="Arial"/>
                <a:sym typeface="Arial"/>
              </a:rPr>
            </a:br>
            <a:r>
              <a:rPr b="1" lang="ru" sz="1900">
                <a:latin typeface="Arial"/>
                <a:ea typeface="Arial"/>
                <a:cs typeface="Arial"/>
                <a:sym typeface="Arial"/>
              </a:rPr>
              <a:t>Визуализация:</a:t>
            </a:r>
            <a:r>
              <a:rPr lang="ru" sz="1900">
                <a:latin typeface="Arial"/>
                <a:ea typeface="Arial"/>
                <a:cs typeface="Arial"/>
                <a:sym typeface="Arial"/>
              </a:rPr>
              <a:t> Схема типичной страницы (прямоугольники).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spcBef>
                <a:spcPts val="1200"/>
              </a:spcBef>
              <a:spcAft>
                <a:spcPts val="0"/>
              </a:spcAft>
              <a:buSzPts val="1900"/>
              <a:buFont typeface="Arial"/>
              <a:buChar char="●"/>
            </a:pPr>
            <a:r>
              <a:rPr b="1" lang="ru" sz="1900">
                <a:latin typeface="Arial"/>
                <a:ea typeface="Arial"/>
                <a:cs typeface="Arial"/>
                <a:sym typeface="Arial"/>
              </a:rPr>
              <a:t>Сверху (Шапка):</a:t>
            </a:r>
            <a:r>
              <a:rPr lang="ru" sz="19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" sz="1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&lt;header&gt;</a:t>
            </a:r>
            <a:r>
              <a:rPr lang="ru" sz="1900">
                <a:latin typeface="Arial"/>
                <a:ea typeface="Arial"/>
                <a:cs typeface="Arial"/>
                <a:sym typeface="Arial"/>
              </a:rPr>
              <a:t> (логотип, телефон)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●"/>
            </a:pPr>
            <a:r>
              <a:rPr b="1" lang="ru" sz="1900">
                <a:latin typeface="Arial"/>
                <a:ea typeface="Arial"/>
                <a:cs typeface="Arial"/>
                <a:sym typeface="Arial"/>
              </a:rPr>
              <a:t>Чуть ниже (Меню):</a:t>
            </a:r>
            <a:r>
              <a:rPr lang="ru" sz="19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" sz="1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&lt;nav&gt;</a:t>
            </a:r>
            <a:r>
              <a:rPr lang="ru" sz="1900">
                <a:latin typeface="Arial"/>
                <a:ea typeface="Arial"/>
                <a:cs typeface="Arial"/>
                <a:sym typeface="Arial"/>
              </a:rPr>
              <a:t> (Главная, Контакты, О нас)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●"/>
            </a:pPr>
            <a:r>
              <a:rPr b="1" lang="ru" sz="1900">
                <a:latin typeface="Arial"/>
                <a:ea typeface="Arial"/>
                <a:cs typeface="Arial"/>
                <a:sym typeface="Arial"/>
              </a:rPr>
              <a:t>Центр (Главное):</a:t>
            </a:r>
            <a:r>
              <a:rPr lang="ru" sz="19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" sz="1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&lt;main&gt;</a:t>
            </a:r>
            <a:r>
              <a:rPr lang="ru" sz="1900"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lang="ru" sz="1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&lt;article&gt;</a:t>
            </a:r>
            <a:r>
              <a:rPr lang="ru" sz="1900">
                <a:latin typeface="Arial"/>
                <a:ea typeface="Arial"/>
                <a:cs typeface="Arial"/>
                <a:sym typeface="Arial"/>
              </a:rPr>
              <a:t> (Статья "Как я провел лето")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●"/>
            </a:pPr>
            <a:r>
              <a:rPr b="1" lang="ru" sz="1900">
                <a:latin typeface="Arial"/>
                <a:ea typeface="Arial"/>
                <a:cs typeface="Arial"/>
                <a:sym typeface="Arial"/>
              </a:rPr>
              <a:t>Сбоку (Боковина):</a:t>
            </a:r>
            <a:r>
              <a:rPr lang="ru" sz="19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" sz="1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&lt;aside&gt;</a:t>
            </a:r>
            <a:r>
              <a:rPr lang="ru" sz="1900">
                <a:latin typeface="Arial"/>
                <a:ea typeface="Arial"/>
                <a:cs typeface="Arial"/>
                <a:sym typeface="Arial"/>
              </a:rPr>
              <a:t> (Реклама, баннеры)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●"/>
            </a:pPr>
            <a:r>
              <a:rPr b="1" lang="ru" sz="1900">
                <a:latin typeface="Arial"/>
                <a:ea typeface="Arial"/>
                <a:cs typeface="Arial"/>
                <a:sym typeface="Arial"/>
              </a:rPr>
              <a:t>Снизу (Подвал):</a:t>
            </a:r>
            <a:r>
              <a:rPr lang="ru" sz="19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" sz="1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&lt;footer&gt;</a:t>
            </a:r>
            <a:r>
              <a:rPr lang="ru" sz="1900">
                <a:latin typeface="Arial"/>
                <a:ea typeface="Arial"/>
                <a:cs typeface="Arial"/>
                <a:sym typeface="Arial"/>
              </a:rPr>
              <a:t> (Копирайт, 2025)</a:t>
            </a:r>
            <a:endParaRPr sz="8202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490250" y="450150"/>
            <a:ext cx="5878800" cy="68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800">
                <a:latin typeface="Arial"/>
                <a:ea typeface="Arial"/>
                <a:cs typeface="Arial"/>
                <a:sym typeface="Arial"/>
              </a:rPr>
              <a:t>Формы (Обратная связь)</a:t>
            </a:r>
            <a:endParaRPr/>
          </a:p>
        </p:txBody>
      </p:sp>
      <p:sp>
        <p:nvSpPr>
          <p:cNvPr id="114" name="Google Shape;114;p21"/>
          <p:cNvSpPr txBox="1"/>
          <p:nvPr/>
        </p:nvSpPr>
        <p:spPr>
          <a:xfrm>
            <a:off x="658075" y="1035150"/>
            <a:ext cx="7696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2600">
                <a:solidFill>
                  <a:schemeClr val="dk1"/>
                </a:solidFill>
              </a:rPr>
              <a:t>Интерактив</a:t>
            </a:r>
            <a:endParaRPr b="1" sz="1300">
              <a:solidFill>
                <a:schemeClr val="dk1"/>
              </a:solidFill>
            </a:endParaRPr>
          </a:p>
        </p:txBody>
      </p:sp>
      <p:sp>
        <p:nvSpPr>
          <p:cNvPr id="115" name="Google Shape;115;p21"/>
          <p:cNvSpPr txBox="1"/>
          <p:nvPr/>
        </p:nvSpPr>
        <p:spPr>
          <a:xfrm>
            <a:off x="768925" y="2074725"/>
            <a:ext cx="5878800" cy="27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chemeClr val="dk1"/>
                </a:solidFill>
              </a:rPr>
              <a:t>Код: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chemeClr val="dk1"/>
                </a:solidFill>
              </a:rPr>
              <a:t>&lt;form&gt; &lt;label for="name"&gt;Имя:&lt;/label&gt;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chemeClr val="dk1"/>
                </a:solidFill>
              </a:rPr>
              <a:t>  &lt;input type="text" id="name" placeholder="Введите имя"&gt;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chemeClr val="dk1"/>
                </a:solidFill>
              </a:rPr>
              <a:t>  &lt;label for="pass"&gt;Пароль:&lt;/label&gt;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chemeClr val="dk1"/>
                </a:solidFill>
              </a:rPr>
              <a:t>  &lt;input type="password" id="pass"&gt;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chemeClr val="dk1"/>
                </a:solidFill>
              </a:rPr>
              <a:t>  &lt;button&gt;Отправить&lt;/button&gt;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ru" sz="1200">
                <a:solidFill>
                  <a:schemeClr val="dk1"/>
                </a:solidFill>
              </a:rPr>
              <a:t>&lt;/form&gt;</a:t>
            </a:r>
            <a:endParaRPr b="1">
              <a:solidFill>
                <a:schemeClr val="dk1"/>
              </a:solidFill>
            </a:endParaRPr>
          </a:p>
        </p:txBody>
      </p:sp>
      <p:pic>
        <p:nvPicPr>
          <p:cNvPr id="116" name="Google Shape;116;p21" title="Screenshot 2026-02-25 at 14-00-26 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8087" y="1524450"/>
            <a:ext cx="7827825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type="title"/>
          </p:nvPr>
        </p:nvSpPr>
        <p:spPr>
          <a:xfrm>
            <a:off x="490250" y="450150"/>
            <a:ext cx="5878800" cy="68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500">
                <a:latin typeface="Arial"/>
                <a:ea typeface="Arial"/>
                <a:cs typeface="Arial"/>
                <a:sym typeface="Arial"/>
              </a:rPr>
              <a:t>Важные мелочи (Лайфхаки)</a:t>
            </a:r>
            <a:endParaRPr b="1" sz="4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2"/>
          <p:cNvSpPr txBox="1"/>
          <p:nvPr/>
        </p:nvSpPr>
        <p:spPr>
          <a:xfrm>
            <a:off x="658075" y="1035150"/>
            <a:ext cx="7696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2600">
                <a:solidFill>
                  <a:schemeClr val="dk1"/>
                </a:solidFill>
              </a:rPr>
              <a:t>Чтобы не опозориться</a:t>
            </a:r>
            <a:endParaRPr b="1" sz="1300">
              <a:solidFill>
                <a:schemeClr val="dk1"/>
              </a:solidFill>
            </a:endParaRPr>
          </a:p>
        </p:txBody>
      </p:sp>
      <p:sp>
        <p:nvSpPr>
          <p:cNvPr id="123" name="Google Shape;123;p22"/>
          <p:cNvSpPr txBox="1"/>
          <p:nvPr/>
        </p:nvSpPr>
        <p:spPr>
          <a:xfrm>
            <a:off x="768925" y="1620150"/>
            <a:ext cx="7117800" cy="31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chemeClr val="dk1"/>
                </a:solidFill>
              </a:rPr>
              <a:t>Список с иконками: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ru" sz="1600">
                <a:solidFill>
                  <a:schemeClr val="dk1"/>
                </a:solidFill>
              </a:rPr>
              <a:t>Парные vs Одиночные:</a:t>
            </a:r>
            <a:r>
              <a:rPr lang="ru" sz="1600">
                <a:solidFill>
                  <a:schemeClr val="dk1"/>
                </a:solidFill>
              </a:rPr>
              <a:t> Большинство тегов нужно закрывать (</a:t>
            </a:r>
            <a:r>
              <a:rPr lang="ru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&lt;p&gt;</a:t>
            </a:r>
            <a:r>
              <a:rPr lang="ru" sz="1600">
                <a:solidFill>
                  <a:schemeClr val="dk1"/>
                </a:solidFill>
              </a:rPr>
              <a:t>...</a:t>
            </a:r>
            <a:r>
              <a:rPr lang="ru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&lt;/p&gt;</a:t>
            </a:r>
            <a:r>
              <a:rPr lang="ru" sz="1600">
                <a:solidFill>
                  <a:schemeClr val="dk1"/>
                </a:solidFill>
              </a:rPr>
              <a:t>). Но есть теги-одиночки: </a:t>
            </a:r>
            <a:r>
              <a:rPr lang="ru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&lt;br&gt;</a:t>
            </a:r>
            <a:r>
              <a:rPr lang="ru" sz="1600">
                <a:solidFill>
                  <a:schemeClr val="dk1"/>
                </a:solidFill>
              </a:rPr>
              <a:t>, </a:t>
            </a:r>
            <a:r>
              <a:rPr lang="ru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&lt;img&gt;</a:t>
            </a:r>
            <a:r>
              <a:rPr lang="ru" sz="1600">
                <a:solidFill>
                  <a:schemeClr val="dk1"/>
                </a:solidFill>
              </a:rPr>
              <a:t>, </a:t>
            </a:r>
            <a:r>
              <a:rPr lang="ru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&lt;hr&gt;</a:t>
            </a:r>
            <a:r>
              <a:rPr lang="ru" sz="1600">
                <a:solidFill>
                  <a:schemeClr val="dk1"/>
                </a:solidFill>
              </a:rPr>
              <a:t>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ru" sz="1600">
                <a:solidFill>
                  <a:schemeClr val="dk1"/>
                </a:solidFill>
              </a:rPr>
              <a:t>Атрибуты:</a:t>
            </a:r>
            <a:r>
              <a:rPr lang="ru" sz="1600">
                <a:solidFill>
                  <a:schemeClr val="dk1"/>
                </a:solidFill>
              </a:rPr>
              <a:t> Дополнительные настройки в теге. Пример: </a:t>
            </a:r>
            <a:r>
              <a:rPr lang="ru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class="red"</a:t>
            </a:r>
            <a:r>
              <a:rPr lang="ru" sz="1600">
                <a:solidFill>
                  <a:schemeClr val="dk1"/>
                </a:solidFill>
              </a:rPr>
              <a:t>, </a:t>
            </a:r>
            <a:r>
              <a:rPr lang="ru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id="first"</a:t>
            </a:r>
            <a:r>
              <a:rPr lang="ru" sz="1600">
                <a:solidFill>
                  <a:schemeClr val="dk1"/>
                </a:solidFill>
              </a:rPr>
              <a:t>, </a:t>
            </a:r>
            <a:r>
              <a:rPr lang="ru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style="color:red"</a:t>
            </a:r>
            <a:r>
              <a:rPr lang="ru" sz="1600">
                <a:solidFill>
                  <a:schemeClr val="dk1"/>
                </a:solidFill>
              </a:rPr>
              <a:t>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ru" sz="1600">
                <a:solidFill>
                  <a:schemeClr val="dk1"/>
                </a:solidFill>
              </a:rPr>
              <a:t>Иерархия:</a:t>
            </a:r>
            <a:r>
              <a:rPr lang="ru" sz="1600">
                <a:solidFill>
                  <a:schemeClr val="dk1"/>
                </a:solidFill>
              </a:rPr>
              <a:t> Нельзя после </a:t>
            </a:r>
            <a:r>
              <a:rPr lang="ru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&lt;h2&gt;</a:t>
            </a:r>
            <a:r>
              <a:rPr lang="ru" sz="1600">
                <a:solidFill>
                  <a:schemeClr val="dk1"/>
                </a:solidFill>
              </a:rPr>
              <a:t> воткнуть </a:t>
            </a:r>
            <a:r>
              <a:rPr lang="ru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&lt;h4&gt;</a:t>
            </a:r>
            <a:r>
              <a:rPr lang="ru" sz="1600">
                <a:solidFill>
                  <a:schemeClr val="dk1"/>
                </a:solidFill>
              </a:rPr>
              <a:t>. Это ломает структуру.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ru" sz="1600">
                <a:solidFill>
                  <a:schemeClr val="dk1"/>
                </a:solidFill>
              </a:rPr>
              <a:t>Семантика:</a:t>
            </a:r>
            <a:r>
              <a:rPr lang="ru" sz="1600">
                <a:solidFill>
                  <a:schemeClr val="dk1"/>
                </a:solidFill>
              </a:rPr>
              <a:t> </a:t>
            </a:r>
            <a:r>
              <a:rPr lang="ru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&lt;h1&gt;</a:t>
            </a:r>
            <a:r>
              <a:rPr lang="ru" sz="1600">
                <a:solidFill>
                  <a:schemeClr val="dk1"/>
                </a:solidFill>
              </a:rPr>
              <a:t> — это заголовок, а не способ сделать текст большим. Для красоты есть CSS.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Спасибо!</a:t>
            </a:r>
            <a:endParaRPr sz="3000"/>
          </a:p>
        </p:txBody>
      </p:sp>
      <p:sp>
        <p:nvSpPr>
          <p:cNvPr id="129" name="Google Shape;129;p23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/>
              <a:t>Контактная информация: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/>
              <a:t>ул. Карла Маркса, д. 29 каб. 26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/>
              <a:t>Гусиноозерск</a:t>
            </a:r>
            <a:r>
              <a:rPr lang="ru" sz="1400"/>
              <a:t>, Республика Бурятия, 671160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/>
              <a:t>IT-cube сообщество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/>
              <a:t>https://vk.com/gitcube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/>
              <a:t> </a:t>
            </a:r>
            <a:endParaRPr sz="1400"/>
          </a:p>
        </p:txBody>
      </p:sp>
      <p:pic>
        <p:nvPicPr>
          <p:cNvPr descr="Вид на фрагмент моста Золотые Ворота снизу вверх, черно-белое фото" id="130" name="Google Shape;130;p23"/>
          <p:cNvPicPr preferRelativeResize="0"/>
          <p:nvPr/>
        </p:nvPicPr>
        <p:blipFill rotWithShape="1">
          <a:blip r:embed="rId3">
            <a:alphaModFix/>
          </a:blip>
          <a:srcRect b="0" l="19071" r="4853" t="9"/>
          <a:stretch/>
        </p:blipFill>
        <p:spPr>
          <a:xfrm>
            <a:off x="3274676" y="0"/>
            <a:ext cx="5869325" cy="51435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